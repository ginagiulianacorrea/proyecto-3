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5694ef37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f5694ef37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79d42f7c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f79d42f7c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D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91625" y="173050"/>
            <a:ext cx="7554900" cy="621600"/>
          </a:xfrm>
          <a:prstGeom prst="rect">
            <a:avLst/>
          </a:prstGeom>
          <a:solidFill>
            <a:srgbClr val="F8F3D4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9144000" cy="1485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5625" y="3611150"/>
            <a:ext cx="9144000" cy="15324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910275" y="487025"/>
            <a:ext cx="3967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        REPORTE DE VENTAS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               AdventureWorks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22775" y="1674900"/>
            <a:ext cx="1579800" cy="53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General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522775" y="2399400"/>
            <a:ext cx="1579800" cy="43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Home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22775" y="2981575"/>
            <a:ext cx="1579800" cy="48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EEUU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713" y="1647963"/>
            <a:ext cx="254317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4800" y="1637400"/>
            <a:ext cx="1821350" cy="18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8475" y="1637400"/>
            <a:ext cx="1821350" cy="18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1445550" y="130050"/>
            <a:ext cx="7554900" cy="201000"/>
          </a:xfrm>
          <a:prstGeom prst="rect">
            <a:avLst/>
          </a:prstGeom>
          <a:solidFill>
            <a:srgbClr val="00B8A9"/>
          </a:soli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900">
                <a:latin typeface="Calibri"/>
                <a:ea typeface="Calibri"/>
                <a:cs typeface="Calibri"/>
                <a:sym typeface="Calibri"/>
              </a:rPr>
              <a:t>                           </a:t>
            </a:r>
            <a:endParaRPr sz="3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jj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107250" y="130050"/>
            <a:ext cx="1338300" cy="48834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533300" y="1240575"/>
            <a:ext cx="7499400" cy="3774000"/>
          </a:xfrm>
          <a:prstGeom prst="rect">
            <a:avLst/>
          </a:prstGeom>
          <a:solidFill>
            <a:srgbClr val="F8F3D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4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463" y="1287678"/>
            <a:ext cx="4074351" cy="173740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2717075" y="414475"/>
            <a:ext cx="1338300" cy="5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Cantidad vendida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chemeClr val="dk2"/>
                </a:solidFill>
              </a:rPr>
              <a:t>  </a:t>
            </a:r>
            <a:r>
              <a:rPr lang="es-419" sz="1800">
                <a:solidFill>
                  <a:schemeClr val="dk2"/>
                </a:solidFill>
              </a:rPr>
              <a:t>65mil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4" name="Google Shape;74;p14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3600" y="1287675"/>
            <a:ext cx="3034599" cy="126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title="Points sco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3726" y="2622525"/>
            <a:ext cx="3034599" cy="101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3725" y="3707775"/>
            <a:ext cx="3034600" cy="12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Points sco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8525" y="3114125"/>
            <a:ext cx="4074351" cy="18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167250" y="3663000"/>
            <a:ext cx="1218300" cy="6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   Filtro por año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2"/>
                </a:solidFill>
              </a:rPr>
              <a:t>   2023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6673800" y="401075"/>
            <a:ext cx="724800" cy="43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Inicio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533300" y="408725"/>
            <a:ext cx="2315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Ingresos Totales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chemeClr val="dk2"/>
                </a:solidFill>
              </a:rPr>
              <a:t>  </a:t>
            </a:r>
            <a:r>
              <a:rPr lang="es-419" sz="1800">
                <a:solidFill>
                  <a:schemeClr val="dk2"/>
                </a:solidFill>
              </a:rPr>
              <a:t>29</a:t>
            </a:r>
            <a:r>
              <a:rPr lang="es-419" sz="1800">
                <a:solidFill>
                  <a:schemeClr val="dk2"/>
                </a:solidFill>
              </a:rPr>
              <a:t>mill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3936450" y="408725"/>
            <a:ext cx="1029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Costo Total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chemeClr val="dk2"/>
                </a:solidFill>
              </a:rPr>
              <a:t>  </a:t>
            </a:r>
            <a:r>
              <a:rPr lang="es-419" sz="1800">
                <a:solidFill>
                  <a:schemeClr val="dk2"/>
                </a:solidFill>
              </a:rPr>
              <a:t>17</a:t>
            </a:r>
            <a:r>
              <a:rPr lang="es-419" sz="1800">
                <a:solidFill>
                  <a:schemeClr val="dk2"/>
                </a:solidFill>
              </a:rPr>
              <a:t>mill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4965450" y="408713"/>
            <a:ext cx="140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clientes</a:t>
            </a:r>
            <a:r>
              <a:rPr lang="es-419" sz="1100">
                <a:solidFill>
                  <a:schemeClr val="dk2"/>
                </a:solidFill>
              </a:rPr>
              <a:t> Totales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chemeClr val="dk2"/>
                </a:solidFill>
              </a:rPr>
              <a:t>  </a:t>
            </a:r>
            <a:r>
              <a:rPr lang="es-419" sz="1800">
                <a:solidFill>
                  <a:schemeClr val="dk2"/>
                </a:solidFill>
              </a:rPr>
              <a:t>18</a:t>
            </a:r>
            <a:r>
              <a:rPr lang="es-419" sz="1800">
                <a:solidFill>
                  <a:schemeClr val="dk2"/>
                </a:solidFill>
              </a:rPr>
              <a:t>mil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7456350" y="393875"/>
            <a:ext cx="793800" cy="44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2"/>
                </a:solidFill>
              </a:rPr>
              <a:t>Home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8307900" y="409325"/>
            <a:ext cx="724800" cy="41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2"/>
                </a:solidFill>
              </a:rPr>
              <a:t>EEUU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67250" y="4383275"/>
            <a:ext cx="1218300" cy="6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    Category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2"/>
                </a:solidFill>
              </a:rPr>
              <a:t>   —--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250" y="354626"/>
            <a:ext cx="1218300" cy="862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1445550" y="130050"/>
            <a:ext cx="7698300" cy="862500"/>
          </a:xfrm>
          <a:prstGeom prst="rect">
            <a:avLst/>
          </a:prstGeom>
          <a:solidFill>
            <a:srgbClr val="00B8A9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900">
                <a:latin typeface="Calibri"/>
                <a:ea typeface="Calibri"/>
                <a:cs typeface="Calibri"/>
                <a:sym typeface="Calibri"/>
              </a:rPr>
              <a:t>                           </a:t>
            </a:r>
            <a:endParaRPr sz="3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jj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107250" y="130050"/>
            <a:ext cx="1338300" cy="48834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1445550" y="992550"/>
            <a:ext cx="7698300" cy="4022100"/>
          </a:xfrm>
          <a:prstGeom prst="rect">
            <a:avLst/>
          </a:prstGeom>
          <a:solidFill>
            <a:srgbClr val="F8F3D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5" name="Google Shape;95;p1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850" y="3114150"/>
            <a:ext cx="3034599" cy="126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8525" y="3114125"/>
            <a:ext cx="4074351" cy="18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167250" y="1584225"/>
            <a:ext cx="1218300" cy="6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   Filtro por año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2"/>
                </a:solidFill>
              </a:rPr>
              <a:t>   2023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6673800" y="401075"/>
            <a:ext cx="724800" cy="43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Inicio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7456350" y="393875"/>
            <a:ext cx="793800" cy="44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2"/>
                </a:solidFill>
              </a:rPr>
              <a:t>Home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8307900" y="409325"/>
            <a:ext cx="724800" cy="41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2"/>
                </a:solidFill>
              </a:rPr>
              <a:t>EEUU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67250" y="2482675"/>
            <a:ext cx="1218300" cy="6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    Category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2"/>
                </a:solidFill>
              </a:rPr>
              <a:t>   —--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250" y="247726"/>
            <a:ext cx="1218300" cy="862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1842" y="1019827"/>
            <a:ext cx="3300084" cy="2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